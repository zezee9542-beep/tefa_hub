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c5b8a7b5c40c8" /><Relationship Type="http://schemas.openxmlformats.org/officeDocument/2006/relationships/extended-properties" Target="/docProps/app.xml" Id="R440a08d143ef4a2a" /><Relationship Type="http://schemas.openxmlformats.org/officeDocument/2006/relationships/officeDocument" Target="/ppt/presentation.xml" Id="Racef5719420f4f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3952e38f7141a0"/>
  </p:sldMasterIdLst>
  <p:notesMasterIdLst>
    <p:notesMasterId xmlns:r="http://schemas.openxmlformats.org/officeDocument/2006/relationships" r:id="R4e889abbd191404e"/>
  </p:notesMasterIdLst>
  <p:sldIdLst>
    <p:sldId xmlns:r="http://schemas.openxmlformats.org/officeDocument/2006/relationships" id="256" r:id="R9cf9a169c42f4bea"/>
    <p:sldId xmlns:r="http://schemas.openxmlformats.org/officeDocument/2006/relationships" id="257" r:id="Rc96e162972ef4000"/>
    <p:sldId xmlns:r="http://schemas.openxmlformats.org/officeDocument/2006/relationships" id="258" r:id="R81c3d87548004c45"/>
    <p:sldId xmlns:r="http://schemas.openxmlformats.org/officeDocument/2006/relationships" id="259" r:id="R9ae8ad446f2046dd"/>
    <p:sldId xmlns:r="http://schemas.openxmlformats.org/officeDocument/2006/relationships" id="260" r:id="R388276b04f1a442a"/>
    <p:sldId xmlns:r="http://schemas.openxmlformats.org/officeDocument/2006/relationships" id="261" r:id="R6bf8ebe5c0c447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642dcca49644e3" /><Relationship Type="http://schemas.openxmlformats.org/officeDocument/2006/relationships/slideMaster" Target="/ppt/slideMasters/slideMaster1.xml" Id="R143952e38f7141a0" /><Relationship Type="http://schemas.openxmlformats.org/officeDocument/2006/relationships/notesMaster" Target="/ppt/notesMasters/notesMaster1.xml" Id="R4e889abbd191404e" /><Relationship Type="http://schemas.openxmlformats.org/officeDocument/2006/relationships/presProps" Target="/ppt/presProps.xml" Id="R89d6599d8a864b2e" /><Relationship Type="http://schemas.openxmlformats.org/officeDocument/2006/relationships/tableStyles" Target="/ppt/tableStyles.xml" Id="R3974e9af84ec49fe" /><Relationship Type="http://schemas.openxmlformats.org/officeDocument/2006/relationships/slide" Target="/ppt/slides/slide1.xml" Id="R9cf9a169c42f4bea" /><Relationship Type="http://schemas.openxmlformats.org/officeDocument/2006/relationships/slide" Target="/ppt/slides/slide2.xml" Id="Rc96e162972ef4000" /><Relationship Type="http://schemas.openxmlformats.org/officeDocument/2006/relationships/slide" Target="/ppt/slides/slide3.xml" Id="R81c3d87548004c45" /><Relationship Type="http://schemas.openxmlformats.org/officeDocument/2006/relationships/slide" Target="/ppt/slides/slide4.xml" Id="R9ae8ad446f2046dd" /><Relationship Type="http://schemas.openxmlformats.org/officeDocument/2006/relationships/slide" Target="/ppt/slides/slide5.xml" Id="R388276b04f1a442a" /><Relationship Type="http://schemas.openxmlformats.org/officeDocument/2006/relationships/slide" Target="/ppt/slides/slide6.xml" Id="R6bf8ebe5c0c447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29811aa15246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fa1b4394cc4362" /><Relationship Type="http://schemas.openxmlformats.org/officeDocument/2006/relationships/notesMaster" Target="/ppt/notesMasters/notesMaster1.xml" Id="R4d33312f0be746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de22bae50c4fc8" /><Relationship Type="http://schemas.openxmlformats.org/officeDocument/2006/relationships/notesMaster" Target="/ppt/notesMasters/notesMaster1.xml" Id="R4efc7b28f5b74d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fb9716ce9414e" /><Relationship Type="http://schemas.openxmlformats.org/officeDocument/2006/relationships/notesMaster" Target="/ppt/notesMasters/notesMaster1.xml" Id="R6f4e3ff3292041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b6e9eadb214bf0" /><Relationship Type="http://schemas.openxmlformats.org/officeDocument/2006/relationships/notesMaster" Target="/ppt/notesMasters/notesMaster1.xml" Id="R43b45037ede944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d0bcec2d0d4eb0" /><Relationship Type="http://schemas.openxmlformats.org/officeDocument/2006/relationships/notesMaster" Target="/ppt/notesMasters/notesMaster1.xml" Id="R7c804e42813547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e7a95013be4e8a" /><Relationship Type="http://schemas.openxmlformats.org/officeDocument/2006/relationships/notesMaster" Target="/ppt/notesMasters/notesMaster1.xml" Id="R7e1a52b05b6640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Pembuka. Sampaikan bahwa TEFA-Hub menghubungkan kebutuhan belajar, produksi, dan karier siswa dalam satu platform. Ganti nama tim dan asal sekolah sebelum presentasi. Sumber visual: public/assets/logo.png dan public/assets/human.png.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tiga kelompok fitur utama dan teknologi yang benar-benar ada di proyek. Sumber: routes/web.php, composer show --direct, package.json, app/Http/Controllers/AiNavigatorController.php.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Bedakan optimasi yang sudah terdapat dalam aplikasi dengan strategi skala berikutnya. Jangan menyampaikan rencana Redis atau load balancer sebagai fitur yang sudah aktif. Sumber: app/Http/Controllers/AiNavigatorController.php dan .github/workflows/deploy.yml.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validasi aplikasi sudah dilakukan, tetapi benchmark beban belum direkam sehingga deck tidak menampilkan angka fiktif. Jelaskan rencana uji dan metrik yang akan dipakai. Sumber: tests/Feature/ExampleTest.php, hasil php artisan view:cache, serta rancangan pengujian tim.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screenshot landing page. Jelaskan alur push sampai cache Laravel aktif di VPS. Sumber: public/preview2.png dan .github/workflows/deploy.yml.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capaian yang sudah ada, lalu tunjukkan bahwa pengembangan berikutnya terukur dan realistis. Ganti nama tim sebelum presentasi. Sumber: rangkuman fitur, workflow deploy, dan rencana teknis tim.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9504fda4649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391c47d2ea4958" /><Relationship Type="http://schemas.openxmlformats.org/officeDocument/2006/relationships/slideLayout" Target="/ppt/slideLayouts/slideLayout1.xml" Id="Rf3fa2e34392341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fa2e34392341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9115212ca46c7" /><Relationship Type="http://schemas.openxmlformats.org/officeDocument/2006/relationships/image" Target="/ppt/media/image.png" Id="R5711e5527fba46e4" /><Relationship Type="http://schemas.openxmlformats.org/officeDocument/2006/relationships/image" Target="/ppt/media/image2.png" Id="R83d930442ad74132" /><Relationship Type="http://schemas.openxmlformats.org/officeDocument/2006/relationships/notesSlide" Target="/ppt/notesSlides/notesSlide1.xml" Id="Rda63eff3de604d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c28bd69964e6a" /><Relationship Type="http://schemas.openxmlformats.org/officeDocument/2006/relationships/image" Target="/ppt/media/image3.png" Id="Refce32eafe934097" /><Relationship Type="http://schemas.openxmlformats.org/officeDocument/2006/relationships/notesSlide" Target="/ppt/notesSlides/notesSlide2.xml" Id="R0b6a9035ce1e44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84f5ec67c4eed" /><Relationship Type="http://schemas.openxmlformats.org/officeDocument/2006/relationships/notesSlide" Target="/ppt/notesSlides/notesSlide3.xml" Id="R7c17bce8c90348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30fc3fba240ea" /><Relationship Type="http://schemas.openxmlformats.org/officeDocument/2006/relationships/notesSlide" Target="/ppt/notesSlides/notesSlide4.xml" Id="R2d3aac76c32845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3d85d26474b25" /><Relationship Type="http://schemas.openxmlformats.org/officeDocument/2006/relationships/image" Target="/ppt/media/image4.png" Id="R59a90a1cb98d41e6" /><Relationship Type="http://schemas.openxmlformats.org/officeDocument/2006/relationships/notesSlide" Target="/ppt/notesSlides/notesSlide5.xml" Id="Rc4ae45e63b3c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620402a1848b2" /><Relationship Type="http://schemas.openxmlformats.org/officeDocument/2006/relationships/image" Target="/ppt/media/image5.png" Id="Rccc77b35c18e428f" /><Relationship Type="http://schemas.openxmlformats.org/officeDocument/2006/relationships/notesSlide" Target="/ppt/notesSlides/notesSlide6.xml" Id="Rd8604f720d6343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57492-015B-42ED-8689-58A7BC15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68F6B-5264-4C7F-8676-B81E6FB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B2A45-B332-4DE3-81F7-31A0901B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3009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45D72-2990-4AC5-9B1A-F96C9E00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9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TEFA-Hub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D605F-636A-49B4-85B7-8EC6847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606D6-D3F8-41B1-9641-A4BBF6DB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4782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BOOTCAMP &amp; FINAL  •  WEB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50046-8235-4B02-942C-35875824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TEFA-Hub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51F6A-4CA6-4B23-9F4B-CF953CFC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810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Ekosistem digital terpadu untuk perjalanan siswa SMK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8F4DB-B3CC-43AC-8072-0605868F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338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Platform TEFA-Hub menyatukan layanan akademik, karya BLUD, akses karier BKK, dan bantuan informasi dalam satu pengalaman web.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02FC9-27EA-49DE-AF2F-14E2E7AC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03B5C-D478-468E-9DDF-68A0A21E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Nama tim: [Isi nama tim]</a:t>
            </a:r>
          </a:p>
          <a:p xmlns:a="http://schemas.openxmlformats.org/drawingml/2006/main">
            <a:pPr algn="l">
              <a:defRPr sz="10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Anggota: [Isi nama anggota 1, 2, 3]</a:t>
            </a:r>
          </a:p>
          <a:p xmlns:a="http://schemas.openxmlformats.org/drawingml/2006/main">
            <a:pPr algn="l">
              <a:defRPr sz="10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Asal sekolah: [Isi nama sekolah]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7834D-0BFD-4D92-AE39-7307DAC1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15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Pitch deck proyek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1e5527fba46e4"/>
          <a:stretch xmlns:a="http://schemas.openxmlformats.org/drawingml/2006/main"/>
        </p:blipFill>
        <p:spPr>
          <a:xfrm xmlns:a="http://schemas.openxmlformats.org/drawingml/2006/main">
            <a:off x="685800" y="526143"/>
            <a:ext cx="495300" cy="471714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930442ad74132"/>
          <a:stretch xmlns:a="http://schemas.openxmlformats.org/drawingml/2006/main"/>
        </p:blipFill>
        <p:spPr>
          <a:xfrm xmlns:a="http://schemas.openxmlformats.org/drawingml/2006/main">
            <a:off x="6705600" y="1673650"/>
            <a:ext cx="4762500" cy="4091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834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63569-5A8D-4209-9D69-FB5D687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PRODUK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95B10-2CF9-4E05-845D-C0DEC4EF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Fitur dan teknologi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3240D-17EE-4DEF-8F5F-BBE57C0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286DD-4360-4A63-B067-070DCA9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E5FC-B44E-4F4E-A461-B77A375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85054-0FD9-421B-AEF7-D11C17C4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TEFA-Hub menyediakan alur layanan yang berbeda sesuai peran pengguna.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50D9C-9968-4476-BC6C-E8F406C5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50F42-10E7-4247-A6C1-6A68E17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95525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Akses berbasis peran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12B68-84B7-4F39-BA59-7E9FC2E7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Halaman dan izin terpisah untuk siswa, guru, dan administrator dengan Spatie Permission.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97AAB-0095-4760-A963-662BF680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9622D-DC8E-451F-8B9E-8B087ED9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43275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Modul vokasi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8C411-543A-484D-A73B-910C687E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Akademik, publikasi produk BLUD, lowongan serta lamaran BKK, profil, dan riwayat aktivitas.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1957A-0FF2-40CC-AD9E-677480D4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6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6A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12544-5B8A-4C75-8449-34ABE398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Tanya Tefa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58FD9-F983-43BB-A4DA-87A6925F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8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Navigator berbasis intent untuk PPDB, akademik, BLUD, BKK, bantuan akun, dan layanan administrasi.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C1D1B-08DA-4B12-9C59-01720A22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24025"/>
            <a:ext cx="57150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E6D4D-199A-4FAB-9FCC-BCA7B603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Teknologi inti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25597-9DA1-4676-B229-6F1E9E5F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43475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Laravel 13, PHP 8.5, Blade, MySQL, Vite, Tailwind CSS, JavaScript, dan Spatie Laravel Permission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8060A-ACC4-4919-BF23-742C680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Implementasi aplikasi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32CFB-9191-45CB-A1F8-4FA9988B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928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2342"/>
                </a:solidFill>
                <a:latin typeface="Arial"/>
                <a:ea typeface="Arial"/>
                <a:cs typeface="Arial"/>
              </a:rPr>
              <a:t>26 route aplikasi mencakup halaman publik, autentikasi, dashboard siswa, API data, AI Navigator, dan monitor admin.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e32eafe934097"/>
          <a:stretch xmlns:a="http://schemas.openxmlformats.org/drawingml/2006/main"/>
        </p:blipFill>
        <p:spPr>
          <a:xfrm xmlns:a="http://schemas.openxmlformats.org/drawingml/2006/main">
            <a:off x="7124700" y="1790643"/>
            <a:ext cx="2952750" cy="27052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31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E00D64-97A1-4AE4-9339-63FB937C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PRODUKSI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5B81C-2FBF-470C-A837-AACA4287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Optimasi dan strategi skalabilitas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49ACA-37F9-40DD-BE5C-2B9D19BA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8D549-AB4D-4FB8-AF6C-2A0FF4D3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3C3F9-CDC7-47E7-A2C3-28BDB2C5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E6C28-614D-466F-B988-437BAACD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Optimasi yang sudah dipakai menjaga proses deploy dan respons aplikasi tetap efisien.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7D036-835E-4A89-8FD1-DD107081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7205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4078E-7B52-4708-864F-0551E13C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Sudah diimplementasikan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E3B3F-B0CD-42E9-A096-498C8DF0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Cache aplikasi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65F15-A0B5-48DD-B524-48AC4227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Jawaban Tanya Tefa AI disimpan 2 sampai 24 jam sesuai sumber respons agar pertanyaan berulang tidak selalu memanggil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B28CF-864E-4B92-A5D6-E6169F8D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Cache saat deploy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7312D-6CCF-4DA9-9F4F-3E82B817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Pipeline produksi membuat cache konfigurasi, route, dan view setelah migration dijalankan.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2A63A-10C1-4D5B-B47D-060CD50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Waktu tunggu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A355C-79BC-4E95-8FCD-EAE9946D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482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Permintaan ke layanan AI memakai timeout 4 detik dan meneruskan fallback pengetahuan lokal bila layanan eksternal tidak tersedia.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1D99E-C530-43C2-9B0F-CEA7B9B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33400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1123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3D6D2-0788-4883-8540-530A5B07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Saat traffic meningkat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DC505-6E98-41E5-BA25-1AA0F4DE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05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0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D2CA0-E4D0-4BCE-B6E7-2F467842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Pindahkan cache, session, dan queue dari database ke Redis.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9624E-A35B-4870-BCFE-97128F07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0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9B48E-8950-4A4F-A5EE-268A2D1E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957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Jalankan queue worker untuk proses yang tidak harus selesai di permintaan pengguna.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93B7B-F0E5-4C67-8B08-969AFD6A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29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0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D2C52-69E5-4785-BEEB-A6DC9F4C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10075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86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Tambahkan indeks database, pemantauan query lambat, reverse proxy, dan load balancer bila kapasitas satu server tidak cukup.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96F18-D954-425E-BB08-1EA76CEF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112342"/>
                </a:solidFill>
                <a:latin typeface="Arial"/>
                <a:ea typeface="Arial"/>
                <a:cs typeface="Arial"/>
              </a:rPr>
              <a:t>Strategi berikutnya bergantung pada hasil benchmark nyata dan pola trafik pengguna.</a:t>
            </a:r>
          </a:p>
        </p:txBody>
      </p:sp>
    </p:spTree>
    <p:extLst>
      <p:ext uri="{BB962C8B-B14F-4D97-AF65-F5344CB8AC3E}">
        <p14:creationId xmlns:p14="http://schemas.microsoft.com/office/powerpoint/2010/main" val="1993516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C6337-5C50-4464-B6FF-CB353AAC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C741D-8B32-4E9B-B8B5-42C9F83D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Uji performa dan analisis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808B5-60EF-4332-8E4E-A9AD43A0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BA8BD-3CC7-4F09-AF96-BFE51F3A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4A706-C822-4BAD-BBB0-9E92E768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F4858-8654-40E4-BE16-88720E34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Pengukuran beban perlu dilakukan dengan skenario yang merepresentasikan penggunaan nyata.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C502E-46D0-4638-9A21-569059F2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669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8F1F6-3A37-43D8-AC53-EB0A06CC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4FA87-79C8-4415-B37C-A158DEB2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Validasi saat 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428D9-F61F-4DEA-8A98-2CB9C094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905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Pengujian Laravel memverifikasi halaman utama mengembalikan HTTP 200. Cache Blade juga berhasil dibuat sebelum deploy.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EF1DC-1A9E-4452-A922-719D9B07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Bukti yang tersedia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BC25C-B2BD-4CEE-A702-C8BEBEAD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php artisan test</a:t>
            </a:r>
          </a:p>
          <a:p xmlns:a="http://schemas.openxmlformats.org/drawingml/2006/main">
            <a:pPr algn="l">
              <a:defRPr sz="11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php artisan view:cache</a:t>
            </a:r>
          </a:p>
          <a:p xmlns:a="http://schemas.openxmlformats.org/drawingml/2006/main">
            <a:pPr algn="l">
              <a:defRPr sz="11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Route list aplikasi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5D696-5382-4AA0-8B72-3A8CEE28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02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Benchmark berikutnya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599EF-5569-4698-8C96-315AFE93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3000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Lighthouse mengukur LCP, CLS, dan Total Blocking Time halaman publik.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k6 atau ApacheBench menjalankan 20, 50, lalu 100 pengguna bersamaan pada halaman utama, login, dan API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Laravel Pail, access log, serta slow query log mencatat error dan titik bottleneck.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BC3E1-2916-4DC7-80A5-535CC9D5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02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Output keputusan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0648B-BB29-41E8-8630-9B913E4E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38425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Catat p95 latency, error rate, CPU, memori, dan waktu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Jika hasil melewati kapasitas server, prioritaskan Redis, indeks database, queue worker, dan cache aset statis.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161B0-05CB-4973-960D-5E9C947B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95800"/>
            <a:ext cx="2571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3D777-8DAA-4C37-9BAB-D7D3EBD2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482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761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Catatan penting</a:t>
            </a:r>
          </a:p>
          <a:p xmlns:a="http://schemas.openxmlformats.org/drawingml/2006/main">
            <a:pPr algn="l"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Belum ada angka benchmark yang direkam.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4F973-D601-4D59-BC79-4C4D7F01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112342"/>
                </a:solidFill>
                <a:latin typeface="Arial"/>
                <a:ea typeface="Arial"/>
                <a:cs typeface="Arial"/>
              </a:rPr>
              <a:t>Kejujuran data memperkuat presentasi teknis.</a:t>
            </a:r>
          </a:p>
        </p:txBody>
      </p:sp>
    </p:spTree>
    <p:extLst>
      <p:ext uri="{BB962C8B-B14F-4D97-AF65-F5344CB8AC3E}">
        <p14:creationId xmlns:p14="http://schemas.microsoft.com/office/powerpoint/2010/main" val="117542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54C21-090B-4047-8B53-44E21CE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RILIS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D3A86-1C2C-4462-9E03-DCDB15E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Hasil deploy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74E8D-C079-4013-B396-38851A5E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3EC37-8506-452C-B3F0-C69B7CE2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2986C-1642-473D-A443-210CE1AD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1EAB6-967A-482E-91F2-CEFCB833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73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6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Tampilan landing page menunjukkan akses awal ke Akademik, BLUD, BKK, PPDB, dan autentikasi pengguna.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3CD4E-492C-429C-AED6-F339BEF6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572250" cy="3695700"/>
          </a:xfrm>
          <a:prstGeom xmlns:a="http://schemas.openxmlformats.org/drawingml/2006/main" prst="roundRect">
            <a:avLst>
              <a:gd name="adj" fmla="val 5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E3EFF-5397-40D7-8884-77E0C6A7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Target publik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85C29-7105-4B0A-A5A8-7B00A0BA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336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tefahub.my.id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E798B-F781-4E18-8E0A-CB4E4019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575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E6F96-8CDC-43E0-883E-C26F36D6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051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Alur deploy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94178-79A4-47B0-ABF7-E84F4FAC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29025"/>
            <a:ext cx="3095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Push ke branch main memulai GitHub Actions. Workflow mengunggah aplikasi melalui SCP ke VPS Webuzo, memasang dependensi production, menjalankan migration, lalu membangun cache konfigurasi, route, dan 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708D7-1C1D-4562-96BD-5E250F10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435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38A05-024E-4CE3-A9E8-4E65FD6D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210175"/>
            <a:ext cx="1114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644EB-E602-419E-AB4A-9245A9DB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53645-BF84-4A94-9BC8-DE24178D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101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Webuzo VPS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D6F06-132D-479B-930B-8AF005F2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94A3B8"/>
                </a:solidFill>
                <a:latin typeface="Arial"/>
                <a:ea typeface="Arial"/>
                <a:cs typeface="Arial"/>
              </a:rPr>
              <a:t>Screenshot UI berasal dari hasil implementasi proyek.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90a1cb98d41e6"/>
          <a:srcRect xmlns:a="http://schemas.openxmlformats.org/drawingml/2006/main" l="0" t="6606" r="0" b="66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" y="2295525"/>
            <a:ext cx="6286500" cy="3409950"/>
          </a:xfrm>
          <a:prstGeom xmlns:a="http://schemas.openxmlformats.org/drawingml/2006/main" prst="roundRect">
            <a:avLst>
              <a:gd name="adj" fmla="val 3911"/>
            </a:avLst>
          </a:prstGeom>
        </p:spPr>
      </p:pic>
    </p:spTree>
    <p:extLst>
      <p:ext uri="{BB962C8B-B14F-4D97-AF65-F5344CB8AC3E}">
        <p14:creationId xmlns:p14="http://schemas.microsoft.com/office/powerpoint/2010/main" val="881854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2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E17F6-554A-4207-B4EE-FFAE10B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Kesimpulan dan rencana pengembangan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D0A83-C44B-4C9C-AC23-052AB1A3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8F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8F5"/>
                </a:solidFill>
                <a:latin typeface="Arial"/>
                <a:ea typeface="Arial"/>
                <a:cs typeface="Arial"/>
              </a:rPr>
              <a:t>TEFA-Hub telah membangun fondasi platform vokasi yang memadukan layanan sekolah dan kebutuhan pengguna dalam satu aplikasi web.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5589C-9CB3-46E8-BC46-FE246670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547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AFB22-4FDA-42DB-A2CA-2174FA37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Capaian saat 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2106-974A-49C1-B6D3-766A3D8D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Akses per peran, modul Akademik, BLUD, BKK, AI Navigator, riwayat aktivitas, dan alur deploy otomatis sudah tersedia dalam proyek.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3C6CC-53C7-4AFB-ACFA-0ED59A12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Langkah berikutnya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581F9-726E-4D3D-BA24-2BCD7704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81425"/>
            <a:ext cx="4324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Merekam baseline performa, memperkuat cache dan queue, meningkatkan keamanan HTTPS, serta menambahkan monitoring uptime dan database.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AF2B-FB53-4F05-BAE0-2F633674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4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429F9-5289-4311-A05F-6A914C5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Terima kasih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04A52-8D23-41EE-B81D-05EB803A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8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9D8F5"/>
                </a:solidFill>
                <a:latin typeface="Arial"/>
                <a:ea typeface="Arial"/>
                <a:cs typeface="Arial"/>
              </a:rPr>
              <a:t>Nama tim: [Isi nama tim]  |  TEFA-Hub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C0218-1666-4D21-A970-AA028800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8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D8F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77b35c18e428f"/>
          <a:stretch xmlns:a="http://schemas.openxmlformats.org/drawingml/2006/main"/>
        </p:blipFill>
        <p:spPr>
          <a:xfrm xmlns:a="http://schemas.openxmlformats.org/drawingml/2006/main">
            <a:off x="685800" y="563336"/>
            <a:ext cx="457200" cy="4354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89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2026-09-30T18:10:50.7970000Z</dcterms:created>
  <dcterms:modified xsi:type="dcterms:W3CDTF">2026-09-30T18:10:50.7970000Z</dcterms:modified>
</coreProperties>
</file>